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42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420"/>
                </a:solidFill>
                <a:latin typeface="Arial"/>
              </a:rPr>
              <a:t>Distribuição por Faixa Etária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52B78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8A707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Até 29</c:v>
                  </c:pt>
                  <c:pt idx="1">
                    <c:v>30–34</c:v>
                  </c:pt>
                  <c:pt idx="2">
                    <c:v>35–39</c:v>
                  </c:pt>
                  <c:pt idx="3">
                    <c:v>40–44</c:v>
                  </c:pt>
                  <c:pt idx="4">
                    <c:v>45–49</c:v>
                  </c:pt>
                  <c:pt idx="5">
                    <c:v>50–54</c:v>
                  </c:pt>
                  <c:pt idx="6">
                    <c:v>55–59</c:v>
                  </c:pt>
                  <c:pt idx="7">
                    <c:v>60+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0.7</c:v>
                </c:pt>
                <c:pt idx="1">
                  <c:v>7.7</c:v>
                </c:pt>
                <c:pt idx="2">
                  <c:v>17.5</c:v>
                </c:pt>
                <c:pt idx="3">
                  <c:v>37.1</c:v>
                </c:pt>
                <c:pt idx="4">
                  <c:v>21</c:v>
                </c:pt>
                <c:pt idx="5">
                  <c:v>11.9</c:v>
                </c:pt>
                <c:pt idx="6">
                  <c:v>2.8</c:v>
                </c:pt>
                <c:pt idx="7">
                  <c:v>0.7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8A707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0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42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420"/>
                </a:solidFill>
                <a:latin typeface="Arial"/>
              </a:rPr>
              <a:t>Formato da Família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A8304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8A707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Casal com filhos</c:v>
                  </c:pt>
                  <c:pt idx="1">
                    <c:v>Monoparental</c:v>
                  </c:pt>
                  <c:pt idx="2">
                    <c:v>Família recomposta</c:v>
                  </c:pt>
                  <c:pt idx="3">
                    <c:v>Estendida</c:v>
                  </c:pt>
                  <c:pt idx="4">
                    <c:v>Outros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67.8</c:v>
                </c:pt>
                <c:pt idx="1">
                  <c:v>16.1</c:v>
                </c:pt>
                <c:pt idx="2">
                  <c:v>9.8</c:v>
                </c:pt>
                <c:pt idx="3">
                  <c:v>3.5</c:v>
                </c:pt>
                <c:pt idx="4">
                  <c:v>2.8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8A707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0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42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420"/>
                </a:solidFill>
                <a:latin typeface="Arial"/>
              </a:rPr>
              <a:t>Renda Familiar Mensal (SM = R$1.518)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D4821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8A707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Até 3SM</c:v>
                  </c:pt>
                  <c:pt idx="1">
                    <c:v>3 a 5SM</c:v>
                  </c:pt>
                  <c:pt idx="2">
                    <c:v>5 a 10SM</c:v>
                  </c:pt>
                  <c:pt idx="3">
                    <c:v>10 a 15SM</c:v>
                  </c:pt>
                  <c:pt idx="4">
                    <c:v>15 a 25SM</c:v>
                  </c:pt>
                  <c:pt idx="5">
                    <c:v>Acima 25SM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9.8</c:v>
                </c:pt>
                <c:pt idx="1">
                  <c:v>30.8</c:v>
                </c:pt>
                <c:pt idx="2">
                  <c:v>26.6</c:v>
                </c:pt>
                <c:pt idx="3">
                  <c:v>14.7</c:v>
                </c:pt>
                <c:pt idx="4">
                  <c:v>8.4</c:v>
                </c:pt>
                <c:pt idx="5">
                  <c:v>6.3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8A707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0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42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420"/>
                </a:solidFill>
                <a:latin typeface="Arial"/>
              </a:rPr>
              <a:t>Ano de Entrada na Arandu (N de respondentes)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8A707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Antes
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15</c:v>
                </c:pt>
                <c:pt idx="1">
                  <c:v>3</c:v>
                </c:pt>
                <c:pt idx="2">
                  <c:v>5</c:v>
                </c:pt>
                <c:pt idx="3">
                  <c:v>4</c:v>
                </c:pt>
                <c:pt idx="4">
                  <c:v>6</c:v>
                </c:pt>
                <c:pt idx="5">
                  <c:v>12</c:v>
                </c:pt>
                <c:pt idx="6">
                  <c:v>14</c:v>
                </c:pt>
                <c:pt idx="7">
                  <c:v>17</c:v>
                </c:pt>
                <c:pt idx="8">
                  <c:v>12</c:v>
                </c:pt>
                <c:pt idx="9">
                  <c:v>17</c:v>
                </c:pt>
                <c:pt idx="10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8A707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0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Adaptando (0,7%)</c:v>
                </c:pt>
              </c:strCache>
            </c:strRef>
          </c:tx>
          <c:spPr>
            <a:solidFill>
              <a:srgbClr val="FCA31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Distribuição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Inserindo (32,2%)</c:v>
                </c:pt>
              </c:strCache>
            </c:strRef>
          </c:tx>
          <c:spPr>
            <a:solidFill>
              <a:srgbClr val="C0406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Distribuição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32.2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Comprometido (44,8%)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Distribuição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44.8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Ativo no Motivo (11,9%)</c:v>
                </c:pt>
              </c:strCache>
            </c:strRef>
          </c:tx>
          <c:spPr>
            <a:solidFill>
              <a:srgbClr val="3B82C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Distribuição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11.9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Embaixador (4,9%)</c:v>
                </c:pt>
              </c:strCache>
            </c:strRef>
          </c:tx>
          <c:spPr>
            <a:solidFill>
              <a:srgbClr val="1D5B7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Distribuição</c:v>
                  </c:pt>
                </c:lvl>
              </c:multiLvlStrCache>
            </c:multiLvl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4.9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Cocriador (5,6%)</c:v>
                </c:pt>
              </c:strCache>
            </c:strRef>
          </c:tx>
          <c:spPr>
            <a:solidFill>
              <a:srgbClr val="6B46C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Distribuição</c:v>
                  </c:pt>
                </c:lvl>
              </c:multiLvlStrCache>
            </c:multiLvlStrRef>
          </c:cat>
          <c:val>
            <c:numRef>
              <c:f>Sheet1!$G$2:$G$2</c:f>
              <c:numCache>
                <c:formatCode>General</c:formatCode>
                <c:ptCount val="1"/>
                <c:pt idx="0">
                  <c:v>5.6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42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Conhecimento Institucional</c:v>
                </c:pt>
              </c:strCache>
            </c:strRef>
          </c:tx>
          <c:spPr>
            <a:solidFill>
              <a:srgbClr val="A83048"/>
            </a:solidFill>
            <a:ln w="31750" cap="flat">
              <a:solidFill>
                <a:srgbClr val="A83048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8A707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83048"/>
              </a:solidFill>
              <a:ln w="9525" cap="flat">
                <a:solidFill>
                  <a:srgbClr val="A830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Inserindo</c:v>
                  </c:pt>
                  <c:pt idx="1">
                    <c:v>Comprometido</c:v>
                  </c:pt>
                  <c:pt idx="2">
                    <c:v>Ativo no Motivo</c:v>
                  </c:pt>
                  <c:pt idx="3">
                    <c:v>Emb + Coc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66.5</c:v>
                </c:pt>
                <c:pt idx="1">
                  <c:v>74.1</c:v>
                </c:pt>
                <c:pt idx="2">
                  <c:v>66.2</c:v>
                </c:pt>
                <c:pt idx="3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Pertencimento Cultural</c:v>
                </c:pt>
              </c:strCache>
            </c:strRef>
          </c:tx>
          <c:spPr>
            <a:solidFill>
              <a:srgbClr val="2D6A4F"/>
            </a:solidFill>
            <a:ln w="31750" cap="flat">
              <a:solidFill>
                <a:srgbClr val="2D6A4F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8A707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6A4F"/>
              </a:solidFill>
              <a:ln w="9525" cap="flat">
                <a:solidFill>
                  <a:srgbClr val="2D6A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Inserindo</c:v>
                  </c:pt>
                  <c:pt idx="1">
                    <c:v>Comprometido</c:v>
                  </c:pt>
                  <c:pt idx="2">
                    <c:v>Ativo no Motivo</c:v>
                  </c:pt>
                  <c:pt idx="3">
                    <c:v>Emb + Coc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98.4</c:v>
                </c:pt>
                <c:pt idx="1">
                  <c:v>98.4</c:v>
                </c:pt>
                <c:pt idx="2">
                  <c:v>98.5</c:v>
                </c:pt>
                <c:pt idx="3">
                  <c:v>100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Acordos Sociais</c:v>
                </c:pt>
              </c:strCache>
            </c:strRef>
          </c:tx>
          <c:spPr>
            <a:solidFill>
              <a:srgbClr val="457B9D"/>
            </a:solidFill>
            <a:ln w="31750" cap="flat">
              <a:solidFill>
                <a:srgbClr val="457B9D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8A707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57B9D"/>
              </a:solidFill>
              <a:ln w="9525" cap="flat">
                <a:solidFill>
                  <a:srgbClr val="457B9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Inserindo</c:v>
                  </c:pt>
                  <c:pt idx="1">
                    <c:v>Comprometido</c:v>
                  </c:pt>
                  <c:pt idx="2">
                    <c:v>Ativo no Motivo</c:v>
                  </c:pt>
                  <c:pt idx="3">
                    <c:v>Emb + Coc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78.5</c:v>
                </c:pt>
                <c:pt idx="1">
                  <c:v>85.9</c:v>
                </c:pt>
                <c:pt idx="2">
                  <c:v>94.1</c:v>
                </c:pt>
                <c:pt idx="3">
                  <c:v>98.3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Economia Fraterna</c:v>
                </c:pt>
              </c:strCache>
            </c:strRef>
          </c:tx>
          <c:spPr>
            <a:solidFill>
              <a:srgbClr val="D4821A"/>
            </a:solidFill>
            <a:ln w="31750" cap="flat">
              <a:solidFill>
                <a:srgbClr val="D4821A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8A707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821A"/>
              </a:solidFill>
              <a:ln w="9525" cap="flat">
                <a:solidFill>
                  <a:srgbClr val="D482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Inserindo</c:v>
                  </c:pt>
                  <c:pt idx="1">
                    <c:v>Comprometido</c:v>
                  </c:pt>
                  <c:pt idx="2">
                    <c:v>Ativo no Motivo</c:v>
                  </c:pt>
                  <c:pt idx="3">
                    <c:v>Emb + Coc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92.4</c:v>
                </c:pt>
                <c:pt idx="1">
                  <c:v>78.3</c:v>
                </c:pt>
                <c:pt idx="2">
                  <c:v>89.7</c:v>
                </c:pt>
                <c:pt idx="3">
                  <c:v>98.2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Engajamento Ativo</c:v>
                </c:pt>
              </c:strCache>
            </c:strRef>
          </c:tx>
          <c:spPr>
            <a:solidFill>
              <a:srgbClr val="6B46C1"/>
            </a:solidFill>
            <a:ln w="31750" cap="flat">
              <a:solidFill>
                <a:srgbClr val="6B46C1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8A707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46C1"/>
              </a:solidFill>
              <a:ln w="9525" cap="flat">
                <a:solidFill>
                  <a:srgbClr val="6B46C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Inserindo</c:v>
                  </c:pt>
                  <c:pt idx="1">
                    <c:v>Comprometido</c:v>
                  </c:pt>
                  <c:pt idx="2">
                    <c:v>Ativo no Motivo</c:v>
                  </c:pt>
                  <c:pt idx="3">
                    <c:v>Emb + Coc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8.3</c:v>
                </c:pt>
                <c:pt idx="1">
                  <c:v>4.7</c:v>
                </c:pt>
                <c:pt idx="2">
                  <c:v>24.7</c:v>
                </c:pt>
                <c:pt idx="3">
                  <c:v>57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8A707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0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0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42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Ativo hoje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Emb + Coc</c:v>
                  </c:pt>
                  <c:pt idx="1">
                    <c:v>Ativo no Motivo</c:v>
                  </c:pt>
                  <c:pt idx="2">
                    <c:v>Comprometido</c:v>
                  </c:pt>
                  <c:pt idx="3">
                    <c:v>Inserindo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</c:v>
                </c:pt>
                <c:pt idx="1">
                  <c:v>24.7</c:v>
                </c:pt>
                <c:pt idx="2">
                  <c:v>4.7</c:v>
                </c:pt>
                <c:pt idx="3">
                  <c:v>8.3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Já participei</c:v>
                </c:pt>
              </c:strCache>
            </c:strRef>
          </c:tx>
          <c:spPr>
            <a:solidFill>
              <a:srgbClr val="D4821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Emb + Coc</c:v>
                  </c:pt>
                  <c:pt idx="1">
                    <c:v>Ativo no Motivo</c:v>
                  </c:pt>
                  <c:pt idx="2">
                    <c:v>Comprometido</c:v>
                  </c:pt>
                  <c:pt idx="3">
                    <c:v>Inserindo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</c:v>
                </c:pt>
                <c:pt idx="1">
                  <c:v>42.3</c:v>
                </c:pt>
                <c:pt idx="2">
                  <c:v>49.4</c:v>
                </c:pt>
                <c:pt idx="3">
                  <c:v>27.8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Nunca participei</c:v>
                </c:pt>
              </c:strCache>
            </c:strRef>
          </c:tx>
          <c:spPr>
            <a:solidFill>
              <a:srgbClr val="E8DDD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Emb + Coc</c:v>
                  </c:pt>
                  <c:pt idx="1">
                    <c:v>Ativo no Motivo</c:v>
                  </c:pt>
                  <c:pt idx="2">
                    <c:v>Comprometido</c:v>
                  </c:pt>
                  <c:pt idx="3">
                    <c:v>Inserindo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</c:v>
                </c:pt>
                <c:pt idx="1">
                  <c:v>33</c:v>
                </c:pt>
                <c:pt idx="2">
                  <c:v>45.9</c:v>
                </c:pt>
                <c:pt idx="3">
                  <c:v>63.9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420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42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8A707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304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304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Alinhado</c:v>
                  </c:pt>
                  <c:pt idx="1">
                    <c:v>Potencial +1 nível</c:v>
                  </c:pt>
                  <c:pt idx="2">
                    <c:v>Potencial +2+ níveis</c:v>
                  </c:pt>
                  <c:pt idx="3">
                    <c:v>Autoposi. +1 acima</c:v>
                  </c:pt>
                  <c:pt idx="4">
                    <c:v>Autoposi. +2+ acima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26.6</c:v>
                </c:pt>
                <c:pt idx="1">
                  <c:v>16.1</c:v>
                </c:pt>
                <c:pt idx="2">
                  <c:v>25.9</c:v>
                </c:pt>
                <c:pt idx="3">
                  <c:v>17.5</c:v>
                </c:pt>
                <c:pt idx="4">
                  <c:v>12.6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8A707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4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Pesquisa enviada online a todas as famílias da Arandu em setembro de 2025. Total: 143 respondentes.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questionário foi enviado de forma online. Link do formulário: https://docs.google.com/forms/d/e/1FAIpQLSdva2RCR57R86nsUXXbfUX2ocSETB9RGaQQEZakRjSyH9kVhg/viewform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Comunidade majoritariamente feminina (60%), madura (43 anos em média) e altamente escolarizada (89% com superior ou pós).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68% famílias biparentais. Renda concentrada entre 3 e 10 SM (57,4%). 40,6% alugam imóvel. 80% praticam alguma forma de doação.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Pico de 38 novos em 2025. Apenas 33% têm formação em antroposofia — a maioria no Seminário Pedagogia Waldorf.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do Comprometido: Capital Social Individual (o que a escola faz por mim). Após: Capital Social da Comunidade (o que faço pela escola). O "SIM" é a decisão que separa os dois lados da lemniscata.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inferência é complemento à autopercepção — não a substitui. O modificador de tempo reflete que o amadurecimento na curva leva tempo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Destaque: 44,8% Comprometidos — disseram SIM. 32,2% em Inserindo — no ponto de decisão. Apenas 16,4% em estágios 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Engajamento ativo é o principal diferencial: cresce de 5–8% nos comprometidos para 57% em Embaixador+Cocriador. Pertencimento é alto em todos os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64% dos Inserindos nunca participaram de papel algum. Comprometidos têm histórico (49% já foram), mas poucos são ativos agora (5%). O engajamento sobe muito apenas nos estágios avançados.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42% têm potencial não declarado — as respostas mostram nível acima do que declaram. 30% se posicionam acima do que as respostas sustentam. 27% alinhados.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 ARANDU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de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Comunidade 2025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48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 Perfil Socioeconômico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D48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Engajamento na Curva dos 7 Processos Sociais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1920240" cy="914400"/>
          </a:xfrm>
          <a:prstGeom prst="rect">
            <a:avLst/>
          </a:prstGeom>
          <a:solidFill>
            <a:srgbClr val="7B2230"/>
          </a:solidFill>
          <a:ln w="12700">
            <a:solidFill>
              <a:srgbClr val="7B22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58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D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respondentes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3840480"/>
            <a:ext cx="1920240" cy="914400"/>
          </a:xfrm>
          <a:prstGeom prst="rect">
            <a:avLst/>
          </a:prstGeom>
          <a:solidFill>
            <a:srgbClr val="7B2230"/>
          </a:solidFill>
          <a:ln w="12700">
            <a:solidFill>
              <a:srgbClr val="7B22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3858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Set/2025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97480" y="4297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D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 online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3840480"/>
            <a:ext cx="1920240" cy="914400"/>
          </a:xfrm>
          <a:prstGeom prst="rect">
            <a:avLst/>
          </a:prstGeom>
          <a:solidFill>
            <a:srgbClr val="7B2230"/>
          </a:solidFill>
          <a:ln w="12700">
            <a:solidFill>
              <a:srgbClr val="7B22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858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846320" y="4297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D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dimensões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95160" y="3840480"/>
            <a:ext cx="1920240" cy="914400"/>
          </a:xfrm>
          <a:prstGeom prst="rect">
            <a:avLst/>
          </a:prstGeom>
          <a:solidFill>
            <a:srgbClr val="7B2230"/>
          </a:solidFill>
          <a:ln w="12700">
            <a:solidFill>
              <a:srgbClr val="7B22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3858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995160" y="4297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D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estágios da curva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a Pesquisa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Contexto, objetivo e estrutura do instrumento de coleta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846320" cy="3566160"/>
          </a:xfrm>
          <a:prstGeom prst="rect">
            <a:avLst/>
          </a:prstGeom>
          <a:solidFill>
            <a:srgbClr val="FDF6F4"/>
          </a:solidFill>
          <a:ln w="12700">
            <a:solidFill>
              <a:srgbClr val="E8D5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Compreender a realidade socioeconômica das famílias e o engajamento de cada membro com os princípios e processos da Arandu.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0756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3225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Questionário online estruturado, enviado via Google Forms a todas as famílias em setembro de 2025.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9169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Respondentes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1638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 adultos participaram — entre mães/pais de alunos e colaboradores da escola.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7581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40050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blocos: Perfil Demográfico, Perfil Familiar, Perfil Econômico e Vínculo com a Escola — seguidos das questões sobre os 7 Processos Sociais.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1097280"/>
            <a:ext cx="1325880" cy="1554480"/>
          </a:xfrm>
          <a:prstGeom prst="rect">
            <a:avLst/>
          </a:prstGeom>
          <a:solidFill>
            <a:srgbClr val="7B2230"/>
          </a:solidFill>
          <a:ln w="12700">
            <a:solidFill>
              <a:srgbClr val="7B22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5544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Demográfico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40880" y="1097280"/>
            <a:ext cx="1325880" cy="155448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5544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77840" y="2880360"/>
            <a:ext cx="1325880" cy="1554480"/>
          </a:xfrm>
          <a:prstGeom prst="rect">
            <a:avLst/>
          </a:prstGeom>
          <a:solidFill>
            <a:srgbClr val="D4821A"/>
          </a:solidFill>
          <a:ln w="12700">
            <a:solidFill>
              <a:srgbClr val="D482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33375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Econômico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40880" y="2880360"/>
            <a:ext cx="1325880" cy="1554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33375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Vínculo com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Escola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32120" y="3749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Dimensões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Analisadas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Demográfico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Gênero, faixa etária e escolaridade dos 143 respondentes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mulheres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1284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anos, idade média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superior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pós-graduação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2743200" y="1051560"/>
          <a:ext cx="60350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Familiar e Econômico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 familiar e distribuição de renda mensal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51560"/>
          <a:ext cx="4023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846320" y="1051560"/>
          <a:ext cx="4023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Vínculo com a Escola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relação, tempo de casa e formação em antroposofia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89,5%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mães/pais de aluno(s)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08960" y="10972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8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26,6%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10896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entraram em 2025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0" y="10972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32,9%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85216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têm formação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antroposofia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2468880"/>
          <a:ext cx="822960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5C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7 Processos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Sociais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3611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8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Conceito, metodologia de inferência e resultados do engajamento comunitário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Curva dos 7 Processos Sociais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trajetória de amadurecimento do indivíduo na comunidade escolar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Originada da antroposofia, a curva descreve como cada membro da comunidade desenvolve seu pertencimento e contribuição. O ponto de virada — Comprometido — é o momento em que a pessoa diz SIM para o ser da escola.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82296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de Inferência do Estágio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as respostas foram interpretadas para posicionar cada pessoa na curva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cada respondente, o estágio foi inferido combinando cinco dimensões de análise: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64592" cy="475488"/>
          </a:xfrm>
          <a:prstGeom prst="rect">
            <a:avLst/>
          </a:prstGeom>
          <a:solidFill>
            <a:srgbClr val="7B2230"/>
          </a:solidFill>
          <a:ln w="12700">
            <a:solidFill>
              <a:srgbClr val="7B22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716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Conhecimento Institucional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600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Sim/Não sobre 4 aspectos-chave (missão, processos, pedagogia)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164592" cy="47548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9933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Pertencimento Cultural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222199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afirmações sobre identificação e conexão com os valores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15184"/>
            <a:ext cx="164592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6151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Acordos Sociais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" y="28437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afirmações sobre práticas comunitárias e acordos coletivos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36976"/>
            <a:ext cx="164592" cy="475488"/>
          </a:xfrm>
          <a:prstGeom prst="rect">
            <a:avLst/>
          </a:prstGeom>
          <a:solidFill>
            <a:srgbClr val="D4821A"/>
          </a:solidFill>
          <a:ln w="12700">
            <a:solidFill>
              <a:srgbClr val="D482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2369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 da Ec. Fraterna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3232" y="34655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afirmações sobre práticas de economia solidária e doação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58768"/>
            <a:ext cx="164592" cy="47548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8587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Engajamento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" y="4087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papéis institucionais: Sou atualmente / Já fui / Nunca fui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443984"/>
            <a:ext cx="8229600" cy="402336"/>
          </a:xfrm>
          <a:prstGeom prst="rect">
            <a:avLst/>
          </a:prstGeom>
          <a:solidFill>
            <a:srgbClr val="FDF6F4"/>
          </a:solidFill>
          <a:ln w="12700">
            <a:solidFill>
              <a:srgbClr val="E8D5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48056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Signal: Concordo×1,0 + Concordo parc.×0,4 + Não sei×(−0,2) + Discordo×(−0,8) → normalizado [0, 1]. Modificadores: novatos (≤1 ano) limitados a Inserindo; veteranos (≥5 anos) sem comprometimento → Inserindo/Adaptando.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na Curva dos 7 Estágios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Posicionamento inferido com base nas respostas — N = 143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51560"/>
          <a:ext cx="822960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880360"/>
            <a:ext cx="2029968" cy="1645920"/>
          </a:xfrm>
          <a:prstGeom prst="rect">
            <a:avLst/>
          </a:prstGeom>
          <a:solidFill>
            <a:srgbClr val="FDF6F4"/>
          </a:solidFill>
          <a:ln w="12700">
            <a:solidFill>
              <a:srgbClr val="C0406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2880360"/>
            <a:ext cx="2029968" cy="256032"/>
          </a:xfrm>
          <a:prstGeom prst="rect">
            <a:avLst/>
          </a:prstGeom>
          <a:solidFill>
            <a:srgbClr val="C04060"/>
          </a:solidFill>
          <a:ln w="12700">
            <a:solidFill>
              <a:srgbClr val="C040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88036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Inserindo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3154680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4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32,2%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3621024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46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30352" y="3877056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ponto de virada — decidir SIM ou NÃO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633472" y="2880360"/>
            <a:ext cx="2029968" cy="1645920"/>
          </a:xfrm>
          <a:prstGeom prst="rect">
            <a:avLst/>
          </a:prstGeom>
          <a:solidFill>
            <a:srgbClr val="FDF6F4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33472" y="2880360"/>
            <a:ext cx="2029968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33472" y="288036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Comprometido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633472" y="3154680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44,8%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2633472" y="3621024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64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06624" y="3877056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Disse SIM, sem papel ativo estruturado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09744" y="2880360"/>
            <a:ext cx="2029968" cy="1645920"/>
          </a:xfrm>
          <a:prstGeom prst="rect">
            <a:avLst/>
          </a:prstGeom>
          <a:solidFill>
            <a:srgbClr val="FDF6F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09744" y="2880360"/>
            <a:ext cx="2029968" cy="25603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9744" y="288036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 no Motivo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09744" y="3154680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11,9%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4809744" y="3621024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17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82896" y="3877056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Engajado com ao menos 1 papel ativo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986016" y="2880360"/>
            <a:ext cx="2029968" cy="1645920"/>
          </a:xfrm>
          <a:prstGeom prst="rect">
            <a:avLst/>
          </a:prstGeom>
          <a:solidFill>
            <a:srgbClr val="FDF6F4"/>
          </a:solidFill>
          <a:ln w="12700">
            <a:solidFill>
              <a:srgbClr val="1D5B7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986016" y="2880360"/>
            <a:ext cx="2029968" cy="256032"/>
          </a:xfrm>
          <a:prstGeom prst="rect">
            <a:avLst/>
          </a:prstGeom>
          <a:solidFill>
            <a:srgbClr val="1D5B7A"/>
          </a:solidFill>
          <a:ln w="12700">
            <a:solidFill>
              <a:srgbClr val="1D5B7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86016" y="288036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 + Coc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986016" y="3154680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5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10,5%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6986016" y="3621024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059168" y="3877056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 comunitárias e co-criadores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Concordância por Esfera e Nível Inferido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de respostas positivas por esfera — agrupado por nível (exclui Adaptando, n=1)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5156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Engajamento em Papéis Institucionais por Nível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de cada situação em relação a 5 papéis na escola — por nível inferido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5156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Autoavaliação vs. Estágio Inferido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entre o estágio declarado na Q10 e o inferido pelas respostas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188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26,6%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49808" y="1572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Alinhado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(38 pessoas)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201168" cy="77724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49808" y="28072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Potencial não declarado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(sub-valorização)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201168" cy="777240"/>
          </a:xfrm>
          <a:prstGeom prst="rect">
            <a:avLst/>
          </a:prstGeom>
          <a:solidFill>
            <a:srgbClr val="A83048"/>
          </a:solidFill>
          <a:ln w="12700">
            <a:solidFill>
              <a:srgbClr val="A8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657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30,1%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49808" y="4041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Autoposicionamento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superior</a:t>
            </a:r>
            <a:endParaRPr lang="en-US" sz="10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389120" y="1051560"/>
          <a:ext cx="4251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C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Achados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8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Oportunidades para a Comunidade Arandu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02920" cy="548640"/>
          </a:xfrm>
          <a:prstGeom prst="rect">
            <a:avLst/>
          </a:prstGeom>
          <a:solidFill>
            <a:srgbClr val="7B2230"/>
          </a:solidFill>
          <a:ln w="12700">
            <a:solidFill>
              <a:srgbClr val="7B22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Comunidade madura e escolarizada — mas com forte renovação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5819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 com ensino superior, 43 anos em média — e 27% entraram em 2025. Contexto fértil para aprofundamento, exige acolhimento dos novos.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502920" cy="548640"/>
          </a:xfrm>
          <a:prstGeom prst="rect">
            <a:avLst/>
          </a:prstGeom>
          <a:solidFill>
            <a:srgbClr val="7B2230"/>
          </a:solidFill>
          <a:ln w="12700">
            <a:solidFill>
              <a:srgbClr val="7B22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2402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maioria (44,8%) disse SIM — mas sem papel ativo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4963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Comprometidos com baixíssimo engajamento concreto (5% ativos). Oportunidade: ativar quem já comprometeu.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502920" cy="548640"/>
          </a:xfrm>
          <a:prstGeom prst="rect">
            <a:avLst/>
          </a:prstGeom>
          <a:solidFill>
            <a:srgbClr val="7B2230"/>
          </a:solidFill>
          <a:ln w="12700">
            <a:solidFill>
              <a:srgbClr val="7B22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546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1546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 no ponto de virada — decidir SIM ou sair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4107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pessoas em Inserindo, muitas com alta concordância (2025). Potencial de conversão rápida se bem acompanhadas.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502920" cy="548640"/>
          </a:xfrm>
          <a:prstGeom prst="rect">
            <a:avLst/>
          </a:prstGeom>
          <a:solidFill>
            <a:srgbClr val="7B2230"/>
          </a:solidFill>
          <a:ln w="12700">
            <a:solidFill>
              <a:srgbClr val="7B22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690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40690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 têm mais engajamento real do que declaram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3251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Sub-valorização sistemática: as respostas revelam pertencimento e acordos acima do autoposicionamento — oportunidade de reconhecimento.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 Arandu — Pesquisa Comunitária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2026-08-10T14:59:34Z</dcterms:created>
  <dcterms:modified xsi:type="dcterms:W3CDTF">2026-08-10T14:59:34Z</dcterms:modified>
</cp:coreProperties>
</file>