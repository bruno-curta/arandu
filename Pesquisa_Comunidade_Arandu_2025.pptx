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B1E"/>
                </a:solidFill>
                <a:latin typeface="Arial"/>
              </a:rPr>
              <a:t>Distribuição por Faixa Etária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Até 29</c:v>
                  </c:pt>
                  <c:pt idx="1">
                    <c:v>30–34</c:v>
                  </c:pt>
                  <c:pt idx="2">
                    <c:v>35–39</c:v>
                  </c:pt>
                  <c:pt idx="3">
                    <c:v>40–44</c:v>
                  </c:pt>
                  <c:pt idx="4">
                    <c:v>45–49</c:v>
                  </c:pt>
                  <c:pt idx="5">
                    <c:v>50–54</c:v>
                  </c:pt>
                  <c:pt idx="6">
                    <c:v>55–59</c:v>
                  </c:pt>
                  <c:pt idx="7">
                    <c:v>60+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</c:v>
                </c:pt>
                <c:pt idx="1">
                  <c:v>7.7</c:v>
                </c:pt>
                <c:pt idx="2">
                  <c:v>17.5</c:v>
                </c:pt>
                <c:pt idx="3">
                  <c:v>37.1</c:v>
                </c:pt>
                <c:pt idx="4">
                  <c:v>21</c:v>
                </c:pt>
                <c:pt idx="5">
                  <c:v>11.9</c:v>
                </c:pt>
                <c:pt idx="6">
                  <c:v>2.8</c:v>
                </c:pt>
                <c:pt idx="7">
                  <c:v>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8C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B1E"/>
                </a:solidFill>
                <a:latin typeface="Arial"/>
              </a:rPr>
              <a:t>Formato da Família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Casal com filhos</c:v>
                  </c:pt>
                  <c:pt idx="1">
                    <c:v>Monoparental</c:v>
                  </c:pt>
                  <c:pt idx="2">
                    <c:v>Família recomposta</c:v>
                  </c:pt>
                  <c:pt idx="3">
                    <c:v>Família estendida</c:v>
                  </c:pt>
                  <c:pt idx="4">
                    <c:v>Outros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67.8</c:v>
                </c:pt>
                <c:pt idx="1">
                  <c:v>16.1</c:v>
                </c:pt>
                <c:pt idx="2">
                  <c:v>9.8</c:v>
                </c:pt>
                <c:pt idx="3">
                  <c:v>3.5</c:v>
                </c:pt>
                <c:pt idx="4">
                  <c:v>2.8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8C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B1E"/>
                </a:solidFill>
                <a:latin typeface="Arial"/>
              </a:rPr>
              <a:t>Renda Familiar Mensal (SM = R$1.518)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D482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Até 3SM</c:v>
                  </c:pt>
                  <c:pt idx="1">
                    <c:v>3 a 5SM</c:v>
                  </c:pt>
                  <c:pt idx="2">
                    <c:v>5 a 10SM</c:v>
                  </c:pt>
                  <c:pt idx="3">
                    <c:v>10 a 15SM</c:v>
                  </c:pt>
                  <c:pt idx="4">
                    <c:v>15 a 25SM</c:v>
                  </c:pt>
                  <c:pt idx="5">
                    <c:v>Acima 25SM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</c:v>
                </c:pt>
                <c:pt idx="1">
                  <c:v>30.8</c:v>
                </c:pt>
                <c:pt idx="2">
                  <c:v>26.6</c:v>
                </c:pt>
                <c:pt idx="3">
                  <c:v>14.7</c:v>
                </c:pt>
                <c:pt idx="4">
                  <c:v>8.4</c:v>
                </c:pt>
                <c:pt idx="5">
                  <c:v>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8C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B1E"/>
                </a:solidFill>
                <a:latin typeface="Arial"/>
              </a:rPr>
              <a:t>Ano de Entrada na Arandu (N de respondentes)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Antes
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  <c:pt idx="5">
                  <c:v>12</c:v>
                </c:pt>
                <c:pt idx="6">
                  <c:v>14</c:v>
                </c:pt>
                <c:pt idx="7">
                  <c:v>17</c:v>
                </c:pt>
                <c:pt idx="8">
                  <c:v>12</c:v>
                </c:pt>
                <c:pt idx="9">
                  <c:v>17</c:v>
                </c:pt>
                <c:pt idx="10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48C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Adaptando (0,7%)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Inserindo (32,2%)</c:v>
                </c:pt>
              </c:strCache>
            </c:strRef>
          </c:tx>
          <c:spPr>
            <a:solidFill>
              <a:srgbClr val="F4845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Comprometido (44,8%)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44.8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Ativo no Motivo (11,9%)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Embaixador (4,9%)</c:v>
                </c:pt>
              </c:strCache>
            </c:strRef>
          </c:tx>
          <c:spPr>
            <a:solidFill>
              <a:srgbClr val="1D5B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4.9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Cocriador (5,6%)</c:v>
                </c:pt>
              </c:strCache>
            </c:strRef>
          </c:tx>
          <c:spPr>
            <a:solidFill>
              <a:srgbClr val="6B46C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Distribuição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1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Conhecimento Institucional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66.5</c:v>
                </c:pt>
                <c:pt idx="1">
                  <c:v>74.1</c:v>
                </c:pt>
                <c:pt idx="2">
                  <c:v>66.2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Pertencimento Cultural</c:v>
                </c:pt>
              </c:strCache>
            </c:strRef>
          </c:tx>
          <c:spPr>
            <a:solidFill>
              <a:srgbClr val="1D5B7A"/>
            </a:solidFill>
            <a:ln w="31750" cap="flat">
              <a:solidFill>
                <a:srgbClr val="1D5B7A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5B7A"/>
              </a:solidFill>
              <a:ln w="9525" cap="flat">
                <a:solidFill>
                  <a:srgbClr val="1D5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98.4</c:v>
                </c:pt>
                <c:pt idx="1">
                  <c:v>98.4</c:v>
                </c:pt>
                <c:pt idx="2">
                  <c:v>98.5</c:v>
                </c:pt>
                <c:pt idx="3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Acordos Sociais</c:v>
                </c:pt>
              </c:strCache>
            </c:strRef>
          </c:tx>
          <c:spPr>
            <a:solidFill>
              <a:srgbClr val="F4845F"/>
            </a:solidFill>
            <a:ln w="31750" cap="flat">
              <a:solidFill>
                <a:srgbClr val="F4845F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845F"/>
              </a:solidFill>
              <a:ln w="9525" cap="flat">
                <a:solidFill>
                  <a:srgbClr val="F484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78.5</c:v>
                </c:pt>
                <c:pt idx="1">
                  <c:v>85.9</c:v>
                </c:pt>
                <c:pt idx="2">
                  <c:v>94.1</c:v>
                </c:pt>
                <c:pt idx="3">
                  <c:v>98.3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Economia Fraterna</c:v>
                </c:pt>
              </c:strCache>
            </c:strRef>
          </c:tx>
          <c:spPr>
            <a:solidFill>
              <a:srgbClr val="D4821A"/>
            </a:solidFill>
            <a:ln w="31750" cap="flat">
              <a:solidFill>
                <a:srgbClr val="D4821A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821A"/>
              </a:solidFill>
              <a:ln w="9525" cap="flat">
                <a:solidFill>
                  <a:srgbClr val="D48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92.4</c:v>
                </c:pt>
                <c:pt idx="1">
                  <c:v>78.3</c:v>
                </c:pt>
                <c:pt idx="2">
                  <c:v>89.7</c:v>
                </c:pt>
                <c:pt idx="3">
                  <c:v>98.2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Engajamento Ativo</c:v>
                </c:pt>
              </c:strCache>
            </c:strRef>
          </c:tx>
          <c:spPr>
            <a:solidFill>
              <a:srgbClr val="6B46C1"/>
            </a:solidFill>
            <a:ln w="31750" cap="flat">
              <a:solidFill>
                <a:srgbClr val="6B46C1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46C1"/>
              </a:solidFill>
              <a:ln w="9525" cap="flat">
                <a:solidFill>
                  <a:srgbClr val="6B4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Inserindo</c:v>
                  </c:pt>
                  <c:pt idx="1">
                    <c:v>Comprometido</c:v>
                  </c:pt>
                  <c:pt idx="2">
                    <c:v>Ativo no Motivo</c:v>
                  </c:pt>
                  <c:pt idx="3">
                    <c:v>Emb + Coc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8.3</c:v>
                </c:pt>
                <c:pt idx="1">
                  <c:v>4.7</c:v>
                </c:pt>
                <c:pt idx="2">
                  <c:v>24.7</c:v>
                </c:pt>
                <c:pt idx="3">
                  <c:v>57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48C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1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Ativo hoje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1E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24.7</c:v>
                </c:pt>
                <c:pt idx="2">
                  <c:v>4.7</c:v>
                </c:pt>
                <c:pt idx="3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Já participei</c:v>
                </c:pt>
              </c:strCache>
            </c:strRef>
          </c:tx>
          <c:spPr>
            <a:solidFill>
              <a:srgbClr val="F4A82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1E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42.3</c:v>
                </c:pt>
                <c:pt idx="2">
                  <c:v>49.4</c:v>
                </c:pt>
                <c:pt idx="3">
                  <c:v>27.8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Nunca participei</c:v>
                </c:pt>
              </c:strCache>
            </c:strRef>
          </c:tx>
          <c:spPr>
            <a:solidFill>
              <a:srgbClr val="E0E0E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1E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Emb + Coc</c:v>
                  </c:pt>
                  <c:pt idx="1">
                    <c:v>Ativo no Motivo</c:v>
                  </c:pt>
                  <c:pt idx="2">
                    <c:v>Comprometido</c:v>
                  </c:pt>
                  <c:pt idx="3">
                    <c:v>Inserindo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33</c:v>
                </c:pt>
                <c:pt idx="2">
                  <c:v>45.9</c:v>
                </c:pt>
                <c:pt idx="3">
                  <c:v>63.9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B1E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1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748C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82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82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Alinhado</c:v>
                  </c:pt>
                  <c:pt idx="1">
                    <c:v>Potencial +1 nível</c:v>
                  </c:pt>
                  <c:pt idx="2">
                    <c:v>Potencial +2+ níveis</c:v>
                  </c:pt>
                  <c:pt idx="3">
                    <c:v>Autoposi. +1 acima</c:v>
                  </c:pt>
                  <c:pt idx="4">
                    <c:v>Autoposi. +2+ acima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26.6</c:v>
                </c:pt>
                <c:pt idx="1">
                  <c:v>16.1</c:v>
                </c:pt>
                <c:pt idx="2">
                  <c:v>25.9</c:v>
                </c:pt>
                <c:pt idx="3">
                  <c:v>17.5</c:v>
                </c:pt>
                <c:pt idx="4">
                  <c:v>12.6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748C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 enviada online a todas as famílias da Arandu em setembro de 2025. Total: 143 respondentes.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questionário foi enviado de forma online. Link do formulário: https://docs.google.com/forms/d/e/1FAIpQLSdva2RCR57R86nsUXXbfUX2ocSETB9RGaQQEZakRjSyH9kVhg/viewform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Comunidade majoritariamente feminina (60%), madura (média 43 anos) e altamente escolarizada (89% com superior ou pós).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68% famílias biparentais. Renda concentrada entre 3 e 10 SM (57.4%). 40.6% alugam imóvel. 80% praticam doação (regular ou ocasional).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Pico de 38 novos em 2025. Comunidade com boa renovação. Apenas 33% têm formação em antroposofia — maioria no Seminário Pedagogia Waldorf.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2: foco na curva dos 7 Processos Sociais — conceito antroposófico, metodologia de inferência e análise de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estágio Comprometido é o "ponto de virada": a pessoa decide dizer SIM para os princípios e processos da escola. Antes desse ponto, a jornada é de reconhecimento individual; após, é de contribuição comunitária.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inferência não substitui a autopercepção — é um complemento baseado em evidências das respostas. O modificador de tempo reflete que o amadurecimento na curva leva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Destaque: 44,8% Comprometidos — disseram SIM para a escola. 32,2% em Inserindo — no ponto de virada. Apenas 16,4% em estágios ativos (Ativo, Embaixador, Cocriador).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Engajamento ativo é o diferencial: sobe de 5-8% nos comprometidos para 57% nos Embaixadores+Cocriadores. Pertencimento é consistentemente alto em todos os grupos. Conhecimento Institucional tem lacuna mesmo em grupos avançados.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Padrão claro: quanto mais avançado na curva, maior o engajamento ativo. 64% dos Inserindos nunca participaram de papel algum. Comprometidos têm histórico de participação (49% já foram), mas poucos (5%) são atualmente 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42% têm potencial não declarado — as respostas mostram nível acima do que declaram. 30% se posicionam acima do que as respostas sustentam. Apenas 27% estão alinhados.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passos: aprofundar análise qualitativa dos Inserindos; criar espaços de reconhecimento para Comprometidos; desenhar convites de engajamento por nível de maturidade.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ARANDU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de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2025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Perfil Socioeconômico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Engajamento na Curva dos 7 Processos Sociais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3840480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Set/2025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9748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online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840480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3840480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9516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estágios da curva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a Pesquisa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objetivo e estrutura do instrumento de coleta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566160"/>
          </a:xfrm>
          <a:prstGeom prst="rect">
            <a:avLst/>
          </a:prstGeom>
          <a:solidFill>
            <a:srgbClr val="F4FAF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realidade socioeconômica das famílias da Arandu e o nível de engajamento de cada membro com os princípios e processos da escola.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22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online estruturado, enviado via Google Forms a todas as famílias em setembro de 2025.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169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638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adultos participaram — entre pais/mães de alunos e colaboradores da escola.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581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05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blocos: Perfil Demográfico, Perfil Familiar, Perfil Econômico e Vínculo com a Escola — seguidos de perguntas sobre os 7 Processos Sociais.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1325880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5544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325880" cy="15544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5544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880360"/>
            <a:ext cx="1325880" cy="1554480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2880360"/>
            <a:ext cx="1325880" cy="155448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3375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Dimensões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Analisadas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Demográfico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Gênero, faixa etária e escolaridade dos 143 respondentes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mulheres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anos, idade média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superior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pós-graduação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0" y="105156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Familiar e Econômico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familiar e distribuição de renda mensal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05156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com a Escola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relação, tempo de casa e formação em antroposofia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89,5%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mães/pais de aluno(s)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26,6%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10896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entraram em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0972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32,9%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formação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antroposofia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468880"/>
          <a:ext cx="82296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7 Processos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metodologia de inferência e resultados do engajamento comunitário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dos 7 Processos Sociais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trajetória de amadurecimento do indivíduo na comunidade escolar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Originada da antroposofia, a curva descreve o caminho pelo qual cada membro de uma comunidade desenvolve seu pertencimento e contribuição. A lemniscata (símbolo do infinito) organiza os 7 estágios em dois lados: à esquerda, a construção do Capital Social Individual; à direita, a expressão do Capital Social Comunitário.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38528"/>
            <a:ext cx="109728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938528"/>
            <a:ext cx="1097280" cy="1005840"/>
          </a:xfrm>
          <a:prstGeom prst="rect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Adaptando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938528"/>
            <a:ext cx="1097280" cy="10058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Inserindo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828800"/>
            <a:ext cx="1097280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828800"/>
            <a:ext cx="1097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938528"/>
            <a:ext cx="109728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938528"/>
            <a:ext cx="1097280" cy="1005840"/>
          </a:xfrm>
          <a:prstGeom prst="rect">
            <a:avLst/>
          </a:prstGeom>
          <a:solidFill>
            <a:srgbClr val="1D5B7A"/>
          </a:solidFill>
          <a:ln w="12700">
            <a:solidFill>
              <a:srgbClr val="1D5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Embaixador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1938528"/>
            <a:ext cx="1097280" cy="10058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9385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Cocriador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1719072"/>
            <a:ext cx="36576" cy="1554480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48C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Social Individual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246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Social Comunitário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reconhecimento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adaptação à escola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"Disse SIM" — ponto de compromisso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comunidade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Co-cria ativamente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da escola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de Inferência do Estágio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respostas foram interpretadas para posicionar cada pessoa na curva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respondente, o estágio foi inferido combinando cinco dimensões de análise, com pesos distintos: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Conhecimento Institucional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600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Sim/Não sobre 4 aspectos-chave da escola (missão, processos, pedagogia)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164592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93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Pertencimento Cultural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2219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afirmações sobre identificação e conexão com os valores da Arandu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64592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15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Acordos Sociais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8437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afirmações sobre práticas comunitárias e acordos coletivos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164592" cy="475488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36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 da Ec. Fraterna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4655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afirmações sobre práticas de economia solidária e doação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164592" cy="47548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4087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papéis institucionais: Sou atualmente / Já fui / Nunca fui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8229600" cy="402336"/>
          </a:xfrm>
          <a:prstGeom prst="rect">
            <a:avLst/>
          </a:prstGeom>
          <a:solidFill>
            <a:srgbClr val="F4FAF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Signal: Concordo×1,0 + Concordo parc.×0,4 + Não sei×(−0,2) + Discordo×(−0,8) → normalizado [0, 1]. Modificadores: novatos (≤1 ano) limitados ao estágio Inserindo; veteranos (≥5 anos) sem comprometimento → Inserindo/Adaptando.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na Curva dos 7 Estágios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inferido de cada respondente com base nas respostas — N = 143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880360"/>
            <a:ext cx="2029968" cy="1645920"/>
          </a:xfrm>
          <a:prstGeom prst="rect">
            <a:avLst/>
          </a:prstGeom>
          <a:solidFill>
            <a:srgbClr val="F4FAF7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2880360"/>
            <a:ext cx="2029968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Inserindo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38221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ponto de virada — decidir SIM ou NÃO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33472" y="2880360"/>
            <a:ext cx="2029968" cy="1645920"/>
          </a:xfrm>
          <a:prstGeom prst="rect">
            <a:avLst/>
          </a:prstGeom>
          <a:solidFill>
            <a:srgbClr val="F4FAF7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33472" y="2880360"/>
            <a:ext cx="2029968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33472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33472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633472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06624" y="38221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 SIM, sem papel ativo ainda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09744" y="2880360"/>
            <a:ext cx="2029968" cy="1645920"/>
          </a:xfrm>
          <a:prstGeom prst="rect">
            <a:avLst/>
          </a:prstGeom>
          <a:solidFill>
            <a:srgbClr val="F4FAF7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9744" y="2880360"/>
            <a:ext cx="2029968" cy="2560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4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no Motivo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9744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11,9%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809744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82896" y="38221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Engajado com papel(s) ativo(s)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986016" y="2880360"/>
            <a:ext cx="2029968" cy="1645920"/>
          </a:xfrm>
          <a:prstGeom prst="rect">
            <a:avLst/>
          </a:prstGeom>
          <a:solidFill>
            <a:srgbClr val="F4FAF7"/>
          </a:solidFill>
          <a:ln w="12700">
            <a:solidFill>
              <a:srgbClr val="1D5B7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86016" y="2880360"/>
            <a:ext cx="2029968" cy="256032"/>
          </a:xfrm>
          <a:prstGeom prst="rect">
            <a:avLst/>
          </a:prstGeom>
          <a:solidFill>
            <a:srgbClr val="1D5B7A"/>
          </a:solidFill>
          <a:ln w="12700">
            <a:solidFill>
              <a:srgbClr val="1D5B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86016" y="288036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 + Coc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86016" y="315468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5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10,5%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986016" y="36210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59168" y="38221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comunitárias e co-criadores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Concordância por Esfera e Nível Inferido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respostas positivas (Concordo + Concordo parcialmente) por esfera e grupo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 em Papéis Institucionais por Nível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que declarou cada situação em relação a 5 papéis na escola — por nível inferido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Autoavaliação vs. Estágio Inferido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o estágio declarado na Q10 e o estágio inferido pelas respostas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 pessoas)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01168" cy="7772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" y="2807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não declarado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(sub-valorização)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01168" cy="777240"/>
          </a:xfrm>
          <a:prstGeom prst="rect">
            <a:avLst/>
          </a:prstGeom>
          <a:solidFill>
            <a:srgbClr val="D4821A"/>
          </a:solidFill>
          <a:ln w="12700">
            <a:solidFill>
              <a:srgbClr val="D48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9808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Autoposicionamento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4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389120" y="1051560"/>
          <a:ext cx="4251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4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Oportunidades para a Comunidade Arandu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madura e escolarizada — mas com forte renovação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com ensino superior, 43 anos em média — e 27% entraram em 2025. Contexto fértil para aprofundamento, mas que exige acolhimento dos novos.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(44,8%) disse SIM — mas sem papel 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496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Comprometidos: posicionados no coração da escola, mas com baixíssimo engajamento concreto (5% ativos). Oportunidade: ativar quem já comprometeu.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50292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no ponto de virada — decidir SIM ou sair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pessoas em Inserindo. Precisam ser acompanhadas. Entre os que entraram em 2025 (38), muitos têm alta concordância — potencial de conversão rápida.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0292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têm mais engajamento real do que declaram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25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Subvalorização sistemática: as respostas revelam pertencimento e acordos acima do autoposicionamento. Oportunidade de reconhecimento e convite.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Arandu — Pesquisa Comunitária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2026-08-10T13:36:58Z</dcterms:created>
  <dcterms:modified xsi:type="dcterms:W3CDTF">2026-08-10T13:36:58Z</dcterms:modified>
</cp:coreProperties>
</file>