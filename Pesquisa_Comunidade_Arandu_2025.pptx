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enviada online a todas as famílias da Arandu em setembro de 2025. Total: 143 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questionário foi enviado de forma online. Link: https://forms.gle/…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Comunidade majoritariamente feminina (60%), madura (43 anos em média) e altamente escolarizada (89% com superior ou pós).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68% famílias biparentais (casal com filhos). 43% têm 2 filhos. 33% têm 3 ou mais filhos.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Renda concentrada entre 3 e 10 SM (57,4%). Comunidade de classe média-alta.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Pico de 38 novos em 2025. EF I concentra mais matrículas. 33% com formação em antroposofia.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Comprometido: Capital Social Individual. Após: Capital Social da Comunidade. O "SIM" separa os dois lados da lemniscata.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Comprometido: 36% autodeclarado vs 45% inferido. Inserindo: 9% autodeclarado vs 32% inferido — grande divergência de percepção.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inferência é complemento à autopercepção — não a substitui. O modificador de tempo reflete que o amadurecimento na curva leva tempo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Destaque: 44,8% Comprometidos — disseram SIM. 32,2% em Inserindo — no ponto de decisão. Apenas 16,4% em estágios ativos (Ativo+Emb+Coc).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Engajamento ativo é o principal diferencial: cresce de 5–8% nos comprometidos para 57% em Embaixador+Cocriador. Pertencimento é alto em todos os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64% dos Inserindos nunca participaram de papel algum. Comprometidos têm histórico (49% já foram), mas poucos são ativos agora (5%). O engajamento sobe muito apenas nos estágios avançados.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42% têm potencial não declarado — as respostas mostram nível acima do que declaram. 30% se posicionam acima do que as respostas sustentam. 27% alinhados.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ARANDU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Pesquisa de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Comunidade 2025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de Perfil Socioeconômico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Engajamento na Curva dos 7 Processos Sociais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respondentes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748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Set/2025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9748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online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4632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dimensões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9516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99516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estágios da curva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 a Pesquisa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Contexto, objetivo e estrutura do instrumento de coleta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846320" cy="3566160"/>
          </a:xfrm>
          <a:prstGeom prst="rect">
            <a:avLst/>
          </a:prstGeom>
          <a:solidFill>
            <a:srgbClr val="FDF6F4"/>
          </a:solidFill>
          <a:ln w="12700">
            <a:solidFill>
              <a:srgbClr val="E8D5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4813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Compreender a realidade socioeconômica das famílias e o engajamento de cada membro com os princípios e processos da Arandu.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0756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Instrumento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2257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Questionário online estruturado, enviado via Google Forms a todas as famílias em setembro de 2025.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9169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Respondentes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1638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adultos participaram — entre mães/pais de alunos e colaboradores da escola.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758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40050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blocos: Perfil Demográfico, Familiar, Econômico e Vínculo com a Escola — seguidos das questões sobre os 7 Processos Sociais.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1097280"/>
            <a:ext cx="1325880" cy="155448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Demográfico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097280"/>
            <a:ext cx="1325880" cy="1554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77840" y="2880360"/>
            <a:ext cx="1325880" cy="1554480"/>
          </a:xfrm>
          <a:prstGeom prst="rect">
            <a:avLst/>
          </a:prstGeom>
          <a:solidFill>
            <a:srgbClr val="D4821A"/>
          </a:solidFill>
          <a:ln w="12700">
            <a:solidFill>
              <a:srgbClr val="D482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333756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Econômico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0" y="2880360"/>
            <a:ext cx="1325880" cy="15544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333756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Escola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32120" y="3749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Dimensões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Analisadas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Demográfico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Gênero, faixa etária e escolaridade dos 143 respondentes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1737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mulheres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22128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5760" y="2807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anos, idade média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65760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superior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pós-grad.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51560"/>
            <a:ext cx="5852160" cy="2962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Familiar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Composição do núcleo familiar e número de filhos matriculados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4114800" cy="340156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051560"/>
            <a:ext cx="4023360" cy="32826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Econômico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familiar mensal dos 143 respondentes (SM = R$ 1.518)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8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57,4%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entre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10 SM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A8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9,8%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5760" y="2880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3 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38328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29,4%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6576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 SM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1051560"/>
            <a:ext cx="548640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Vínculo com a Escola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relação, ano de entrada e distribuição das turmas dos filhos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89,5%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mães/pais de aluno(s)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63240" y="960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82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26,6%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63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entraram em 2025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0" y="960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antroposofia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65960"/>
            <a:ext cx="4572000" cy="1984248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60120"/>
            <a:ext cx="3383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II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7 Processos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Sociais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Conceito, metodologia de inferência e resultados do engajamento comunitário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Curva dos 7 Processos Sociais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trajetória de amadurecimento do indivíduo na comunidade escolar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Originada da antroposofia, a curva descreve como cada membro da comunidade desenvolve seu pertencimento e contribuição. O ponto de virada — Comprometido — é o momento em que a pessoa diz SIM para o ser da escola.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36192"/>
            <a:ext cx="658368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Comunidade se Enxerga na Curva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Autoposicionamento (Q10) vs. nível inferido pelas respostas — N=143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8046720" cy="39044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Metodologia de Inferência do Estágio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respostas foram interpretadas para posicionar cada pessoa na curva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respondente, o estágio foi inferido combinando cinco dimensões de análise: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64592" cy="475488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Conhecimento Institucional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600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Sim/Não sobre 4 aspectos-chave (missão, processos, pedagogia)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164592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9339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Pertencimento Cultural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22199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afirmações sobre identificação e conexão com os valores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615184"/>
            <a:ext cx="164592" cy="47548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151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Acordos Sociais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284378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afirmações sobre práticas comunitárias e acordos coletivos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164592" cy="475488"/>
          </a:xfrm>
          <a:prstGeom prst="rect">
            <a:avLst/>
          </a:prstGeom>
          <a:solidFill>
            <a:srgbClr val="D4821A"/>
          </a:solidFill>
          <a:ln w="12700">
            <a:solidFill>
              <a:srgbClr val="D482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2369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Prática da Ec. Fraterna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" y="346557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afirmações sobre práticas de economia solidária e doação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58768"/>
            <a:ext cx="164592" cy="47548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Engajamento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3232" y="40873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papéis institucionais: Sou atualmente / Já fui / Nunca fui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43984"/>
            <a:ext cx="8229600" cy="402336"/>
          </a:xfrm>
          <a:prstGeom prst="rect">
            <a:avLst/>
          </a:prstGeom>
          <a:solidFill>
            <a:srgbClr val="FDF6F4"/>
          </a:solidFill>
          <a:ln w="12700">
            <a:solidFill>
              <a:srgbClr val="E8D5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48056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Signal: Concordo×1,0 + Concordo parc.×0,4 + Não sei×(−0,2) + Discordo×(−0,8) → normalizado [0, 1]. Modificadores: novatos (≤1 ano) limitados a Inserindo; veteranos (≥5 anos) sem comprometimento → Inserindo/Adaptando.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na Curva dos 7 Estágios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Posicionamento inferido com base nas respostas — N = 143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770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3858768"/>
            <a:ext cx="1993392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Inserindo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32,2%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46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30352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ponto de virada — decidir SIM ou NÃO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578608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78608" y="3858768"/>
            <a:ext cx="1993392" cy="246888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78608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Comprometido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578608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C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44,8%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2578608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51760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 SIM, sem papel ativo estruturado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700016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1D5B7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0016" y="3858768"/>
            <a:ext cx="1993392" cy="246888"/>
          </a:xfrm>
          <a:prstGeom prst="rect">
            <a:avLst/>
          </a:prstGeom>
          <a:solidFill>
            <a:srgbClr val="1D5B7A"/>
          </a:solidFill>
          <a:ln w="12700">
            <a:solidFill>
              <a:srgbClr val="1D5B7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00016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no Motivo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700016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5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11,9%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4700016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773168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Engajado com ao menos 1 papel ativo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821424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21424" y="3858768"/>
            <a:ext cx="1993392" cy="24688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21424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 + Coc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821424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46C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10,5%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6821424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894576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comunitárias e co-criadores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Concordância por Esfera e Nível Inferido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respostas positivas por esfera — agrupado por nível (exclui Adaptando, n=1)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Engajamento em Papéis Institucionais por Nível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cada situação em relação a 5 papéis na escola — por nível inferido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Autoavaliação vs. Estágio Inferido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entre o estágio declarado na Q10 e o inferido pelas respostas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01168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1887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6A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26,6%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49808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(38 pessoas)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201168" cy="77724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23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57B9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49808" y="2807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não declarado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(sub-valorização)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201168" cy="777240"/>
          </a:xfrm>
          <a:prstGeom prst="rect">
            <a:avLst/>
          </a:prstGeom>
          <a:solidFill>
            <a:srgbClr val="A83048"/>
          </a:solidFill>
          <a:ln w="12700">
            <a:solidFill>
              <a:srgbClr val="A830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830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49808" y="40416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Autoposicionamento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superior ao inferido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051560"/>
            <a:ext cx="502920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Principais Achados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Oportunidades para a Comunidade Arandu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258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3258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madura e escolarizada — mas com forte renovação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5819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com ensino superior, 43 anos em média — e 27% entraram em 2025. Contexto fértil para aprofundamento, exige acolhimento dos novos.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2402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maioria (44,8%) disse SIM — mas sem papel ativo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496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Comprometidos com baixíssimo engajamento concreto (5% ativos). Oportunidade: ativar quem já comprometeu.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46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1546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 no ponto de virada — decidir SIM ou sair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4107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pessoas em Inserindo, muitas com alta concordância (2025). Potencial de conversão rápida se bem acompanhadas.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0690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40690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têm mais engajamento real do que declaram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43251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Sub-valorização sistemática: as respostas revelam pertencimento e acordos acima do autoposicionamento — oportunidade de reconhecimento.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3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Arandu — Pesquisa Comunitária 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2026-08-10T15:45:15Z</dcterms:created>
  <dcterms:modified xsi:type="dcterms:W3CDTF">2026-08-10T15:45:15Z</dcterms:modified>
</cp:coreProperties>
</file>